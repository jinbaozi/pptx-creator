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强调连接线必须锚定节点边界。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图表数据来自示例标记，不代表真实业务数据。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001"/>
          <p:cNvSpPr/>
          <p:nvPr/>
        </p:nvSpPr>
        <p:spPr>
          <a:xfrm>
            <a:off x="609905" y="457200"/>
            <a:ext cx="10572293" cy="5715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zh-CN" altLang="en-US" sz="285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三段流程形成可验证闭环</a:t>
            </a:r>
            <a:endParaRPr lang="zh-CN" sz="2850" dirty="0"/>
          </a:p>
        </p:txBody>
      </p:sp>
      <p:sp>
        <p:nvSpPr>
          <p:cNvPr id="4" name="node-a"/>
          <p:cNvSpPr/>
          <p:nvPr/>
        </p:nvSpPr>
        <p:spPr>
          <a:xfrm>
            <a:off x="609905" y="1466698"/>
            <a:ext cx="3333902" cy="2038198"/>
          </a:xfrm>
          <a:prstGeom prst="roundRect">
            <a:avLst>
              <a:gd name="adj" fmla="val 841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node-a-title"/>
          <p:cNvSpPr/>
          <p:nvPr/>
        </p:nvSpPr>
        <p:spPr>
          <a:xfrm>
            <a:off x="886054" y="1705356"/>
            <a:ext cx="2667305" cy="3429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浏览器测量</a:t>
            </a:r>
            <a:endParaRPr lang="zh-CN" sz="1650" dirty="0"/>
          </a:p>
        </p:txBody>
      </p:sp>
      <p:sp>
        <p:nvSpPr>
          <p:cNvPr id="6" name="node-a-body"/>
          <p:cNvSpPr/>
          <p:nvPr/>
        </p:nvSpPr>
        <p:spPr>
          <a:xfrm>
            <a:off x="886054" y="2219249"/>
            <a:ext cx="2667305" cy="85770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读取计算样式、几何位置、层叠顺序和裁切。</a:t>
            </a:r>
            <a:endParaRPr lang="zh-CN" sz="1350" dirty="0"/>
          </a:p>
        </p:txBody>
      </p:sp>
      <p:sp>
        <p:nvSpPr>
          <p:cNvPr id="7" name="node-b"/>
          <p:cNvSpPr/>
          <p:nvPr/>
        </p:nvSpPr>
        <p:spPr>
          <a:xfrm>
            <a:off x="4438498" y="1466698"/>
            <a:ext cx="3333902" cy="2038198"/>
          </a:xfrm>
          <a:prstGeom prst="roundRect">
            <a:avLst>
              <a:gd name="adj" fmla="val 841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node-b-title"/>
          <p:cNvSpPr/>
          <p:nvPr/>
        </p:nvSpPr>
        <p:spPr>
          <a:xfrm>
            <a:off x="4714646" y="1705356"/>
            <a:ext cx="2667305" cy="3429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原生重建</a:t>
            </a:r>
            <a:endParaRPr lang="zh-CN" sz="1650" dirty="0"/>
          </a:p>
        </p:txBody>
      </p:sp>
      <p:sp>
        <p:nvSpPr>
          <p:cNvPr id="9" name="node-b-body"/>
          <p:cNvSpPr/>
          <p:nvPr/>
        </p:nvSpPr>
        <p:spPr>
          <a:xfrm>
            <a:off x="4714646" y="2219249"/>
            <a:ext cx="2667305" cy="85770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优先生成文字、形状、表格、图表和连接线。</a:t>
            </a:r>
            <a:endParaRPr lang="zh-CN" sz="1350" dirty="0"/>
          </a:p>
        </p:txBody>
      </p:sp>
      <p:sp>
        <p:nvSpPr>
          <p:cNvPr id="10" name="node-c"/>
          <p:cNvSpPr/>
          <p:nvPr/>
        </p:nvSpPr>
        <p:spPr>
          <a:xfrm>
            <a:off x="8267090" y="1466698"/>
            <a:ext cx="3314700" cy="2038198"/>
          </a:xfrm>
          <a:prstGeom prst="roundRect">
            <a:avLst>
              <a:gd name="adj" fmla="val 841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node-c-title"/>
          <p:cNvSpPr/>
          <p:nvPr/>
        </p:nvSpPr>
        <p:spPr>
          <a:xfrm>
            <a:off x="8544154" y="1705356"/>
            <a:ext cx="2667305" cy="3429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回渲验证</a:t>
            </a:r>
            <a:endParaRPr lang="zh-CN" sz="1650" dirty="0"/>
          </a:p>
        </p:txBody>
      </p:sp>
      <p:sp>
        <p:nvSpPr>
          <p:cNvPr id="12" name="node-c-body"/>
          <p:cNvSpPr/>
          <p:nvPr/>
        </p:nvSpPr>
        <p:spPr>
          <a:xfrm>
            <a:off x="8544154" y="2219249"/>
            <a:ext cx="2667305" cy="85770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重新渲染 PPTX，并与 HTML 基准逐页比较。</a:t>
            </a:r>
            <a:endParaRPr lang="zh-CN" sz="1350" dirty="0"/>
          </a:p>
        </p:txBody>
      </p:sp>
      <p:sp>
        <p:nvSpPr>
          <p:cNvPr id="13" name="connector-a-b"/>
          <p:cNvSpPr/>
          <p:nvPr/>
        </p:nvSpPr>
        <p:spPr>
          <a:xfrm>
            <a:off x="3943807" y="2485796"/>
            <a:ext cx="49469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connector-b-c"/>
          <p:cNvSpPr/>
          <p:nvPr/>
        </p:nvSpPr>
        <p:spPr>
          <a:xfrm>
            <a:off x="7772400" y="2485796"/>
            <a:ext cx="49469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conclusion-001-box"/>
          <p:cNvSpPr/>
          <p:nvPr/>
        </p:nvSpPr>
        <p:spPr>
          <a:xfrm>
            <a:off x="609905" y="4038905"/>
            <a:ext cx="10972800" cy="1714500"/>
          </a:xfrm>
          <a:prstGeom prst="roundRect">
            <a:avLst>
              <a:gd name="adj" fmla="val 10000"/>
            </a:avLst>
          </a:prstGeom>
          <a:solidFill>
            <a:srgbClr val="E8F0FF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16" name="conclusion-001"/>
          <p:cNvSpPr/>
          <p:nvPr/>
        </p:nvSpPr>
        <p:spPr>
          <a:xfrm>
            <a:off x="609905" y="4038905"/>
            <a:ext cx="10972800" cy="1714500"/>
          </a:xfrm>
          <a:prstGeom prst="rect">
            <a:avLst/>
          </a:prstGeom>
          <a:noFill/>
          <a:ln/>
        </p:spPr>
        <p:txBody>
          <a:bodyPr wrap="square" lIns="323850" tIns="361950" rIns="361950" bIns="323850" rtlCol="0" anchor="t"/>
          <a:lstStyle/>
          <a:p>
            <a:pPr algn="l" indent="0" marL="0">
              <a:buNone/>
            </a:pPr>
            <a:r>
              <a:rPr lang="zh-CN" altLang="en-US" sz="2250" b="1" dirty="0">
                <a:solidFill>
                  <a:srgbClr val="1E3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确定性转换负责可重复执行，视觉证据负责阻止错误交付。</a:t>
            </a:r>
            <a:endParaRPr lang="zh-CN" sz="2250" dirty="0"/>
          </a:p>
        </p:txBody>
      </p:sp>
      <p:pic>
        <p:nvPicPr>
          <p:cNvPr id="17" name="local-effect-001-localized-fallback" descr="local-effect-001-localized-fallb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3302" y="6038698"/>
            <a:ext cx="1619402" cy="3621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002"/>
          <p:cNvSpPr/>
          <p:nvPr/>
        </p:nvSpPr>
        <p:spPr>
          <a:xfrm>
            <a:off x="609905" y="457200"/>
            <a:ext cx="10572293" cy="5715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zh-CN" altLang="en-US" sz="285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图表与表格继续保持主要可编辑</a:t>
            </a:r>
            <a:endParaRPr lang="zh-CN" sz="2850" dirty="0"/>
          </a:p>
        </p:txBody>
      </p:sp>
      <p:graphicFrame>
        <p:nvGraphicFramePr>
          <p:cNvPr id="3" name="table-0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1429207"/>
          <a:ext cx="5200193" cy="4095598"/>
        </p:xfrm>
        <a:graphic>
          <a:graphicData uri="http://schemas.openxmlformats.org/drawingml/2006/table">
            <a:tbl>
              <a:tblPr/>
              <a:tblGrid>
                <a:gridCol w="1733398"/>
                <a:gridCol w="1733398"/>
                <a:gridCol w="1733398"/>
              </a:tblGrid>
              <a:tr h="1023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563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563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563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1023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6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文字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6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原生文本框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6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可编辑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3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6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连接线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6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原生线条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6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可编辑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3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6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复杂效果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6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仅局部栅格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6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已记录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002"/>
          <p:cNvSpPr/>
          <p:nvPr/>
        </p:nvSpPr>
        <p:spPr>
          <a:xfrm>
            <a:off x="609905" y="6019495"/>
            <a:ext cx="9048902" cy="2670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zh-CN" altLang="en-US" sz="10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示例数值用于自动化回归，不应作为外部事实引用。</a:t>
            </a:r>
            <a:endParaRPr lang="zh-CN" sz="1050" dirty="0"/>
          </a:p>
        </p:txBody>
      </p:sp>
      <p:sp>
        <p:nvSpPr>
          <p:cNvPr id="6" name="chart-001__chart__point-文字__label"/>
          <p:cNvSpPr/>
          <p:nvPr/>
        </p:nvSpPr>
        <p:spPr>
          <a:xfrm>
            <a:off x="609905" y="1429207"/>
            <a:ext cx="102412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zh-CN" altLang="en-US" sz="15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</a:t>
            </a:r>
            <a:endParaRPr lang="zh-CN" sz="1500" dirty="0"/>
          </a:p>
        </p:txBody>
      </p:sp>
      <p:sp>
        <p:nvSpPr>
          <p:cNvPr id="7" name="chart-001__chart__point-文字__segment"/>
          <p:cNvSpPr/>
          <p:nvPr/>
        </p:nvSpPr>
        <p:spPr>
          <a:xfrm>
            <a:off x="1707185" y="1429207"/>
            <a:ext cx="4236415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chart-001__chart__point-文字__value"/>
          <p:cNvSpPr/>
          <p:nvPr/>
        </p:nvSpPr>
        <p:spPr>
          <a:xfrm>
            <a:off x="5989320" y="1429207"/>
            <a:ext cx="548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</a:t>
            </a:r>
            <a:endParaRPr lang="zh-CN" sz="1500" dirty="0"/>
          </a:p>
        </p:txBody>
      </p:sp>
      <p:sp>
        <p:nvSpPr>
          <p:cNvPr id="9" name="chart-001__chart__point-形状__label"/>
          <p:cNvSpPr/>
          <p:nvPr/>
        </p:nvSpPr>
        <p:spPr>
          <a:xfrm>
            <a:off x="609905" y="1868119"/>
            <a:ext cx="102412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zh-CN" altLang="en-US" sz="15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</a:t>
            </a:r>
            <a:endParaRPr lang="zh-CN" sz="1500" dirty="0"/>
          </a:p>
        </p:txBody>
      </p:sp>
      <p:sp>
        <p:nvSpPr>
          <p:cNvPr id="10" name="chart-001__chart__point-形状__segment"/>
          <p:cNvSpPr/>
          <p:nvPr/>
        </p:nvSpPr>
        <p:spPr>
          <a:xfrm>
            <a:off x="1707185" y="1868119"/>
            <a:ext cx="4104027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chart-001__chart__point-形状__value"/>
          <p:cNvSpPr/>
          <p:nvPr/>
        </p:nvSpPr>
        <p:spPr>
          <a:xfrm>
            <a:off x="5856932" y="1868119"/>
            <a:ext cx="548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</a:t>
            </a:r>
            <a:endParaRPr lang="zh-CN" sz="1500" dirty="0"/>
          </a:p>
        </p:txBody>
      </p:sp>
      <p:sp>
        <p:nvSpPr>
          <p:cNvPr id="12" name="chart-001__chart__point-表格__label"/>
          <p:cNvSpPr/>
          <p:nvPr/>
        </p:nvSpPr>
        <p:spPr>
          <a:xfrm>
            <a:off x="609905" y="2307031"/>
            <a:ext cx="102412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zh-CN" altLang="en-US" sz="15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</a:t>
            </a:r>
            <a:endParaRPr lang="zh-CN" sz="1500" dirty="0"/>
          </a:p>
        </p:txBody>
      </p:sp>
      <p:sp>
        <p:nvSpPr>
          <p:cNvPr id="13" name="chart-001__chart__point-表格__segment"/>
          <p:cNvSpPr/>
          <p:nvPr/>
        </p:nvSpPr>
        <p:spPr>
          <a:xfrm>
            <a:off x="1707185" y="2307031"/>
            <a:ext cx="3971639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chart-001__chart__point-表格__value"/>
          <p:cNvSpPr/>
          <p:nvPr/>
        </p:nvSpPr>
        <p:spPr>
          <a:xfrm>
            <a:off x="5724544" y="2307031"/>
            <a:ext cx="548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</a:t>
            </a:r>
            <a:endParaRPr lang="zh-CN" sz="1500" dirty="0"/>
          </a:p>
        </p:txBody>
      </p:sp>
      <p:sp>
        <p:nvSpPr>
          <p:cNvPr id="15" name="chart-001__chart__point-图表__label"/>
          <p:cNvSpPr/>
          <p:nvPr/>
        </p:nvSpPr>
        <p:spPr>
          <a:xfrm>
            <a:off x="609905" y="2745943"/>
            <a:ext cx="102412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zh-CN" altLang="en-US" sz="15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</a:t>
            </a:r>
            <a:endParaRPr lang="zh-CN" sz="1500" dirty="0"/>
          </a:p>
        </p:txBody>
      </p:sp>
      <p:sp>
        <p:nvSpPr>
          <p:cNvPr id="16" name="chart-001__chart__point-图表__segment"/>
          <p:cNvSpPr/>
          <p:nvPr/>
        </p:nvSpPr>
        <p:spPr>
          <a:xfrm>
            <a:off x="1707185" y="2745943"/>
            <a:ext cx="3883381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chart-001__chart__point-图表__value"/>
          <p:cNvSpPr/>
          <p:nvPr/>
        </p:nvSpPr>
        <p:spPr>
          <a:xfrm>
            <a:off x="5636285" y="2745943"/>
            <a:ext cx="548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</a:t>
            </a:r>
            <a:endParaRPr lang="zh-CN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复杂 HTML 转换验证</dc:title>
  <dc:subject>复杂 HTML 转换验证</dc:subject>
  <dc:creator>pptx-creator</dc:creator>
  <cp:lastModifiedBy>pptx-creator</cp:lastModifiedBy>
  <cp:revision>1</cp:revision>
  <dcterms:created xsi:type="dcterms:W3CDTF">2026-07-30T10:58:27Z</dcterms:created>
  <dcterms:modified xsi:type="dcterms:W3CDTF">2026-07-30T10:58:27Z</dcterms:modified>
</cp:coreProperties>
</file>