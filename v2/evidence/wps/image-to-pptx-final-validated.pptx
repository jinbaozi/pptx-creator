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7817"/>
  <p:notesSz cx="6857817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source-001. OCR confidence is recorded in ocr-report.json.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source-002. OCR confidence is recorded in ocr-report.json.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001-shape-001"/>
          <p:cNvSpPr/>
          <p:nvPr/>
        </p:nvSpPr>
        <p:spPr>
          <a:xfrm>
            <a:off x="0" y="0"/>
            <a:ext cx="12191695" cy="1038197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slide-001-shape-002"/>
          <p:cNvSpPr/>
          <p:nvPr/>
        </p:nvSpPr>
        <p:spPr>
          <a:xfrm>
            <a:off x="609585" y="1904949"/>
            <a:ext cx="104772" cy="22002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slide-001-shape-003"/>
          <p:cNvSpPr/>
          <p:nvPr/>
        </p:nvSpPr>
        <p:spPr>
          <a:xfrm>
            <a:off x="714357" y="1904949"/>
            <a:ext cx="3009825" cy="2200216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slide-001-shape-004"/>
          <p:cNvSpPr/>
          <p:nvPr/>
        </p:nvSpPr>
        <p:spPr>
          <a:xfrm>
            <a:off x="4019450" y="1904949"/>
            <a:ext cx="104772" cy="2200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6" name="slide-001-shape-005"/>
          <p:cNvSpPr/>
          <p:nvPr/>
        </p:nvSpPr>
        <p:spPr>
          <a:xfrm>
            <a:off x="4124222" y="1904949"/>
            <a:ext cx="3009825" cy="2200216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slide-001-shape-006"/>
          <p:cNvSpPr/>
          <p:nvPr/>
        </p:nvSpPr>
        <p:spPr>
          <a:xfrm>
            <a:off x="714357" y="1923999"/>
            <a:ext cx="2990775" cy="2162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lide-001-shape-007"/>
          <p:cNvSpPr/>
          <p:nvPr/>
        </p:nvSpPr>
        <p:spPr>
          <a:xfrm>
            <a:off x="4124222" y="1923999"/>
            <a:ext cx="2990775" cy="21621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lide-001-shape-008"/>
          <p:cNvSpPr/>
          <p:nvPr/>
        </p:nvSpPr>
        <p:spPr>
          <a:xfrm>
            <a:off x="8724682" y="2381186"/>
            <a:ext cx="1571586" cy="1571583"/>
          </a:xfrm>
          <a:prstGeom prst="ellipse">
            <a:avLst/>
          </a:prstGeom>
          <a:solidFill>
            <a:srgbClr val="FFFFFF">
              <a:alpha val="0"/>
            </a:srgbClr>
          </a:solidFill>
          <a:ln w="57150">
            <a:solidFill>
              <a:srgbClr val="FFFFFF"/>
            </a:solidFill>
            <a:prstDash val="solid"/>
          </a:ln>
        </p:spPr>
      </p:sp>
      <p:sp>
        <p:nvSpPr>
          <p:cNvPr id="10" name="slide-001-connector-001"/>
          <p:cNvSpPr/>
          <p:nvPr/>
        </p:nvSpPr>
        <p:spPr>
          <a:xfrm>
            <a:off x="609585" y="4519492"/>
            <a:ext cx="10982050" cy="0"/>
          </a:xfrm>
          <a:prstGeom prst="line">
            <a:avLst/>
          </a:prstGeom>
          <a:noFill/>
          <a:ln w="28575">
            <a:solidFill>
              <a:srgbClr val="829AB1"/>
            </a:solidFill>
            <a:prstDash val="solid"/>
          </a:ln>
        </p:spPr>
      </p:sp>
      <p:pic>
        <p:nvPicPr>
          <p:cNvPr id="11" name="slide-001-complex-001" descr="/tmp/pptx-v2-image-complex-ocr-fix-2/assets/slide-001/complex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1828751"/>
            <a:ext cx="4267093" cy="2438335"/>
          </a:xfrm>
          <a:prstGeom prst="rect">
            <a:avLst/>
          </a:prstGeom>
        </p:spPr>
      </p:pic>
      <p:sp>
        <p:nvSpPr>
          <p:cNvPr id="12" name="slide-001-text-001"/>
          <p:cNvSpPr/>
          <p:nvPr/>
        </p:nvSpPr>
        <p:spPr>
          <a:xfrm>
            <a:off x="628634" y="257168"/>
            <a:ext cx="4381390" cy="400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8" b="1" spc="-12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 PROOF</a:t>
            </a:r>
            <a:endParaRPr lang="en-US" sz="2708" dirty="0"/>
          </a:p>
        </p:txBody>
      </p:sp>
      <p:sp>
        <p:nvSpPr>
          <p:cNvPr id="13" name="slide-001-text-002"/>
          <p:cNvSpPr/>
          <p:nvPr/>
        </p:nvSpPr>
        <p:spPr>
          <a:xfrm>
            <a:off x="609585" y="1190593"/>
            <a:ext cx="7327399" cy="36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1" spc="22" kern="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structure with a local photo fallback</a:t>
            </a:r>
            <a:endParaRPr lang="en-US" sz="1751" dirty="0"/>
          </a:p>
        </p:txBody>
      </p:sp>
      <p:sp>
        <p:nvSpPr>
          <p:cNvPr id="14" name="slide-001-text-003"/>
          <p:cNvSpPr/>
          <p:nvPr/>
        </p:nvSpPr>
        <p:spPr>
          <a:xfrm>
            <a:off x="904852" y="2209741"/>
            <a:ext cx="2590735" cy="295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2" b="1" spc="-78" kern="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TEXT</a:t>
            </a:r>
            <a:endParaRPr lang="en-US" sz="1982" dirty="0"/>
          </a:p>
        </p:txBody>
      </p:sp>
      <p:sp>
        <p:nvSpPr>
          <p:cNvPr id="15" name="slide-001-text-004"/>
          <p:cNvSpPr/>
          <p:nvPr/>
        </p:nvSpPr>
        <p:spPr>
          <a:xfrm>
            <a:off x="4314717" y="2209741"/>
            <a:ext cx="3181270" cy="295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2" b="1" spc="-79" kern="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SHAPES</a:t>
            </a:r>
            <a:endParaRPr lang="en-US" sz="1982" dirty="0"/>
          </a:p>
        </p:txBody>
      </p:sp>
      <p:sp>
        <p:nvSpPr>
          <p:cNvPr id="16" name="slide-001-text-005"/>
          <p:cNvSpPr/>
          <p:nvPr/>
        </p:nvSpPr>
        <p:spPr>
          <a:xfrm>
            <a:off x="904852" y="2733602"/>
            <a:ext cx="3099548" cy="31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1" spc="-44" kern="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 OCR</a:t>
            </a:r>
            <a:endParaRPr lang="en-US" sz="1581" dirty="0"/>
          </a:p>
        </p:txBody>
      </p:sp>
      <p:sp>
        <p:nvSpPr>
          <p:cNvPr id="17" name="slide-001-text-006"/>
          <p:cNvSpPr/>
          <p:nvPr/>
        </p:nvSpPr>
        <p:spPr>
          <a:xfrm>
            <a:off x="4305192" y="2762176"/>
            <a:ext cx="2544064" cy="2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60" spc="-28" kern="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and divider</a:t>
            </a:r>
            <a:endParaRPr lang="en-US" sz="1560" dirty="0"/>
          </a:p>
        </p:txBody>
      </p:sp>
      <p:sp>
        <p:nvSpPr>
          <p:cNvPr id="18" name="slide-001-text-008"/>
          <p:cNvSpPr/>
          <p:nvPr/>
        </p:nvSpPr>
        <p:spPr>
          <a:xfrm>
            <a:off x="609585" y="5038591"/>
            <a:ext cx="5895828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93" b="1" spc="-74" kern="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TO PPTX TO PNG</a:t>
            </a:r>
            <a:endParaRPr lang="en-US" sz="2293" dirty="0"/>
          </a:p>
        </p:txBody>
      </p:sp>
      <p:sp>
        <p:nvSpPr>
          <p:cNvPr id="19" name="slide-001-text-009"/>
          <p:cNvSpPr/>
          <p:nvPr/>
        </p:nvSpPr>
        <p:spPr>
          <a:xfrm>
            <a:off x="619110" y="5524353"/>
            <a:ext cx="7651432" cy="31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1" spc="-5" kern="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Native-first. Raster only where complexity requires it.</a:t>
            </a:r>
            <a:endParaRPr lang="en-US" sz="158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002-shape-001"/>
          <p:cNvSpPr/>
          <p:nvPr/>
        </p:nvSpPr>
        <p:spPr>
          <a:xfrm>
            <a:off x="609585" y="1523959"/>
            <a:ext cx="10982050" cy="465760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8CEC6"/>
            </a:solidFill>
            <a:prstDash val="solid"/>
          </a:ln>
        </p:spPr>
      </p:sp>
      <p:sp>
        <p:nvSpPr>
          <p:cNvPr id="3" name="slide-002-shape-002"/>
          <p:cNvSpPr/>
          <p:nvPr/>
        </p:nvSpPr>
        <p:spPr>
          <a:xfrm>
            <a:off x="8524662" y="1762078"/>
            <a:ext cx="1152496" cy="3724176"/>
          </a:xfrm>
          <a:prstGeom prst="rect">
            <a:avLst/>
          </a:prstGeom>
          <a:solidFill>
            <a:srgbClr val="9F482C"/>
          </a:solidFill>
          <a:ln w="12700">
            <a:solidFill>
              <a:srgbClr val="9F482C">
                <a:alpha val="0"/>
              </a:srgbClr>
            </a:solidFill>
            <a:prstDash val="solid"/>
          </a:ln>
        </p:spPr>
      </p:sp>
      <p:sp>
        <p:nvSpPr>
          <p:cNvPr id="4" name="slide-002-shape-003"/>
          <p:cNvSpPr/>
          <p:nvPr/>
        </p:nvSpPr>
        <p:spPr>
          <a:xfrm>
            <a:off x="6191095" y="2524058"/>
            <a:ext cx="1152496" cy="2962196"/>
          </a:xfrm>
          <a:prstGeom prst="rect">
            <a:avLst/>
          </a:prstGeom>
          <a:solidFill>
            <a:srgbClr val="B95D34"/>
          </a:solidFill>
          <a:ln w="12700">
            <a:solidFill>
              <a:srgbClr val="B95D34">
                <a:alpha val="0"/>
              </a:srgbClr>
            </a:solidFill>
            <a:prstDash val="solid"/>
          </a:ln>
        </p:spPr>
      </p:sp>
      <p:sp>
        <p:nvSpPr>
          <p:cNvPr id="5" name="slide-002-shape-004"/>
          <p:cNvSpPr/>
          <p:nvPr/>
        </p:nvSpPr>
        <p:spPr>
          <a:xfrm>
            <a:off x="3857529" y="3286037"/>
            <a:ext cx="1152496" cy="2200216"/>
          </a:xfrm>
          <a:prstGeom prst="rect">
            <a:avLst/>
          </a:prstGeom>
          <a:solidFill>
            <a:srgbClr val="CF7442"/>
          </a:solidFill>
          <a:ln w="12700">
            <a:solidFill>
              <a:srgbClr val="CF7442">
                <a:alpha val="0"/>
              </a:srgbClr>
            </a:solidFill>
            <a:prstDash val="solid"/>
          </a:ln>
        </p:spPr>
      </p:sp>
      <p:sp>
        <p:nvSpPr>
          <p:cNvPr id="6" name="slide-002-shape-005"/>
          <p:cNvSpPr/>
          <p:nvPr/>
        </p:nvSpPr>
        <p:spPr>
          <a:xfrm>
            <a:off x="1523962" y="4095641"/>
            <a:ext cx="1152496" cy="1390613"/>
          </a:xfrm>
          <a:prstGeom prst="rect">
            <a:avLst/>
          </a:prstGeom>
          <a:solidFill>
            <a:srgbClr val="D98C5F"/>
          </a:solidFill>
          <a:ln w="12700">
            <a:solidFill>
              <a:srgbClr val="D98C5F">
                <a:alpha val="0"/>
              </a:srgbClr>
            </a:solidFill>
            <a:prstDash val="solid"/>
          </a:ln>
        </p:spPr>
      </p:sp>
      <p:sp>
        <p:nvSpPr>
          <p:cNvPr id="7" name="slide-002-connector-001"/>
          <p:cNvSpPr/>
          <p:nvPr/>
        </p:nvSpPr>
        <p:spPr>
          <a:xfrm>
            <a:off x="761981" y="5481491"/>
            <a:ext cx="10677258" cy="0"/>
          </a:xfrm>
          <a:prstGeom prst="line">
            <a:avLst/>
          </a:prstGeom>
          <a:noFill/>
          <a:ln w="28575">
            <a:solidFill>
              <a:srgbClr val="8E8279"/>
            </a:solidFill>
            <a:prstDash val="solid"/>
          </a:ln>
        </p:spPr>
      </p:sp>
      <p:sp>
        <p:nvSpPr>
          <p:cNvPr id="8" name="slide-002-text-001"/>
          <p:cNvSpPr/>
          <p:nvPr/>
        </p:nvSpPr>
        <p:spPr>
          <a:xfrm>
            <a:off x="609585" y="371465"/>
            <a:ext cx="8098905" cy="371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1" b="1" spc="-60" kern="0" dirty="0">
                <a:solidFill>
                  <a:srgbClr val="2C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MOVES TO RETENTION</a:t>
            </a:r>
            <a:endParaRPr lang="en-US" sz="2501" dirty="0"/>
          </a:p>
        </p:txBody>
      </p:sp>
      <p:sp>
        <p:nvSpPr>
          <p:cNvPr id="9" name="slide-002-text-002"/>
          <p:cNvSpPr/>
          <p:nvPr/>
        </p:nvSpPr>
        <p:spPr>
          <a:xfrm>
            <a:off x="609585" y="828653"/>
            <a:ext cx="8362741" cy="31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1" spc="-35" kern="0" dirty="0">
                <a:solidFill>
                  <a:srgbClr val="6B62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bar geometry is editable; hidden data is not invented.</a:t>
            </a:r>
            <a:endParaRPr lang="en-US" sz="1581" dirty="0"/>
          </a:p>
        </p:txBody>
      </p:sp>
      <p:sp>
        <p:nvSpPr>
          <p:cNvPr id="10" name="slide-002-text-003"/>
          <p:cNvSpPr/>
          <p:nvPr/>
        </p:nvSpPr>
        <p:spPr>
          <a:xfrm>
            <a:off x="8381790" y="1781128"/>
            <a:ext cx="222003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3" b="1" spc="242" kern="0" dirty="0">
                <a:solidFill>
                  <a:srgbClr val="2C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QUARTERS</a:t>
            </a:r>
            <a:endParaRPr lang="en-US" sz="1253" dirty="0"/>
          </a:p>
        </p:txBody>
      </p:sp>
      <p:sp>
        <p:nvSpPr>
          <p:cNvPr id="11" name="slide-002-text-004"/>
          <p:cNvSpPr/>
          <p:nvPr/>
        </p:nvSpPr>
        <p:spPr>
          <a:xfrm>
            <a:off x="8381790" y="2152593"/>
            <a:ext cx="2362141" cy="28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6" spc="7" kern="0" dirty="0">
                <a:solidFill>
                  <a:srgbClr val="6B62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visible rise</a:t>
            </a:r>
            <a:endParaRPr lang="en-US" sz="1336" dirty="0"/>
          </a:p>
        </p:txBody>
      </p:sp>
      <p:pic>
        <p:nvPicPr>
          <p:cNvPr id="12" name="slide-002-text-005" descr="/tmp/pptx-v2-image-complex-ocr-fix-2/assets/slide-002/low-confidenc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7329" y="5667224"/>
            <a:ext cx="276218" cy="209544"/>
          </a:xfrm>
          <a:prstGeom prst="rect">
            <a:avLst/>
          </a:prstGeom>
        </p:spPr>
      </p:pic>
      <p:sp>
        <p:nvSpPr>
          <p:cNvPr id="13" name="slide-002-text-006"/>
          <p:cNvSpPr/>
          <p:nvPr/>
        </p:nvSpPr>
        <p:spPr>
          <a:xfrm>
            <a:off x="4219470" y="5619600"/>
            <a:ext cx="538149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19" b="1" spc="209" kern="0" dirty="0">
                <a:solidFill>
                  <a:srgbClr val="2C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19" dirty="0"/>
          </a:p>
        </p:txBody>
      </p:sp>
      <p:sp>
        <p:nvSpPr>
          <p:cNvPr id="14" name="slide-002-text-007"/>
          <p:cNvSpPr/>
          <p:nvPr/>
        </p:nvSpPr>
        <p:spPr>
          <a:xfrm>
            <a:off x="6553036" y="5619600"/>
            <a:ext cx="553579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19" b="1" spc="289" kern="0" dirty="0">
                <a:solidFill>
                  <a:srgbClr val="2C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19" dirty="0"/>
          </a:p>
        </p:txBody>
      </p:sp>
      <p:sp>
        <p:nvSpPr>
          <p:cNvPr id="15" name="slide-002-text-008"/>
          <p:cNvSpPr/>
          <p:nvPr/>
        </p:nvSpPr>
        <p:spPr>
          <a:xfrm>
            <a:off x="8886603" y="5619600"/>
            <a:ext cx="553579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19" b="1" spc="226" kern="0" dirty="0">
                <a:solidFill>
                  <a:srgbClr val="2C2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3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dashboard</dc:title>
  <dc:subject>Native-first reconstruction from user-provided slide images</dc:subject>
  <dc:creator>image-to-pptx</dc:creator>
  <cp:lastModifiedBy>image-to-pptx</cp:lastModifiedBy>
  <cp:revision>1</cp:revision>
  <dcterms:created xsi:type="dcterms:W3CDTF">2026-07-30T10:11:33Z</dcterms:created>
  <dcterms:modified xsi:type="dcterms:W3CDTF">2026-07-30T10:11:33Z</dcterms:modified>
</cp:coreProperties>
</file>